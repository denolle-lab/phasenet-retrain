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Benchmarking PhaseNet for
Global Seismic Phase Picking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  <a:latin typeface="Calibri"/>
              </a:rPr>
              <a:t>Can existing pretrained weights generalise across local, regional,
and teleseismic distances?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Evaluation framework: Münchmeyer et al. (2022)  ·  32,144 traces  ·  11 datasets  ·  15 PhaseNet weights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1280160"/>
          </a:xfrm>
          <a:prstGeom prst="rect">
            <a:avLst/>
          </a:prstGeom>
          <a:solidFill>
            <a:srgbClr val="F5F5F5"/>
          </a:solidFill>
          <a:ln w="9525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PhaseNet was trained on local / regional seismicity.
Does any existing weight pick reliably across ALL distance regimes?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468880"/>
            <a:ext cx="2743200" cy="1645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&lt; 150 km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468880"/>
            <a:ext cx="2743200" cy="1645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Regional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150–1500 km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468880"/>
            <a:ext cx="2743200" cy="16459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Teleseismic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&gt; 1500 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04040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04040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04040"/>
                </a:solidFill>
                <a:latin typeface="Calibri"/>
              </a:rPr>
              <a:t>Evaluation on 11 seismic datasets · 32,144 event traces · 15 PhaseNet weight 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Benchmark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Step 2 output: benchmark_waveforms.hdf5 · 32,144 preprocessed 30 s windows</a:t>
            </a:r>
          </a:p>
        </p:txBody>
      </p:sp>
      <p:pic>
        <p:nvPicPr>
          <p:cNvPr id="5" name="Picture 4" descr="slid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5303520" cy="38350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914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Datasets included: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stead (N. California)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25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local / regional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instancecounts (Italy)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190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local / regional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122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pnw (Pacific NW)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122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local / regional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054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txed (Texas)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054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local / regional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986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ethz (Switzerland)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986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local / regional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3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pisdl (induced seism.)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918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850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ceed (California)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6850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local / regional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7822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vcseis (volcanic)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0782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aq2009gm (Aq. M6.3)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4714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local / regional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646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cwa (W. Australia)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646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local / regional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578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• mlaapde (teleseismic)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257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  <a:latin typeface="Calibri"/>
              </a:rPr>
              <a:t>teleseismic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Following Münchmeyer et al. (2022) — three tasks, cross-domain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3566160" cy="3474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356616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9601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Task 1 —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600200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Fraction of event traces where peak P/S
probability ≥ 0.3  (paper uses ROC-AUC;
no noise windows → recall + median prob used here)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914400"/>
            <a:ext cx="3566160" cy="3474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914400"/>
            <a:ext cx="356616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9601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Task 2 — Phase ID (MCC)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600200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At P position: is P_prob &gt; S_prob?
At S position: is S_prob &gt; P_prob?
Matthews Correlation Coefficient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914400"/>
            <a:ext cx="3566160" cy="34747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914400"/>
            <a:ext cx="356616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9601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Task 3 — Onset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600200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MAE and RMSE of residuals (pred − true).
Outlier fraction: |res| &gt; 1.5 s
uniformly (Münchmeyer et al. 2022 exact definition)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Cross-domain split: for model trained on dataset X, traces from X are excluded from evaluation.
MLAAPDE teleseismic traces are 100% cross-domain for every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 Pick Residuals  ·  Cross-Domain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Blue bars — corner: OUT (outlier frac) / MAE / RMSE  ·  red dashed = median  ·  orange dashed = mean</a:t>
            </a:r>
          </a:p>
        </p:txBody>
      </p:sp>
      <p:pic>
        <p:nvPicPr>
          <p:cNvPr id="5" name="Picture 4" descr="step3_p_residual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23065447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S Pick Residuals  ·  Cross-Domain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Orange bars — wider x-range than P  ·  S picks are universally 3–4× harder than P</a:t>
            </a:r>
          </a:p>
        </p:txBody>
      </p:sp>
      <p:pic>
        <p:nvPicPr>
          <p:cNvPr id="5" name="Picture 4" descr="step3_s_residual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23065447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Cross-Domain Performance Summary  (all distances)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Sorted by P-MAE — outlier threshold ±1.5 s  ·  degenerate models excluded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1243584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" y="978408"/>
            <a:ext cx="1207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960120"/>
            <a:ext cx="466344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5336" y="978408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960120"/>
            <a:ext cx="740664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8256" y="978408"/>
            <a:ext cx="704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P-recall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960120"/>
            <a:ext cx="649224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5496" y="978408"/>
            <a:ext cx="612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P-med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960120"/>
            <a:ext cx="649224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978408"/>
            <a:ext cx="612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960120"/>
            <a:ext cx="877824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97096" y="978408"/>
            <a:ext cx="841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P-MAE (s)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960120"/>
            <a:ext cx="877824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978408"/>
            <a:ext cx="841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S-MAE (s)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960120"/>
            <a:ext cx="832103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25896" y="978408"/>
            <a:ext cx="795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P-outlier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353312"/>
            <a:ext cx="124358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" y="137160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latin typeface="Calibri"/>
              </a:rPr>
              <a:t>volpick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1353312"/>
            <a:ext cx="46634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45336" y="1371600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1353312"/>
            <a:ext cx="74066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48256" y="1371600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1353312"/>
            <a:ext cx="6492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25496" y="1371600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0.79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1353312"/>
            <a:ext cx="6492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1296" y="1371600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0.52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1353312"/>
            <a:ext cx="8778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97096" y="1371600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4920" y="1353312"/>
            <a:ext cx="8778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11496" y="1371600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1.48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353312"/>
            <a:ext cx="832103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5896" y="137160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1700784"/>
            <a:ext cx="124358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" y="1719072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latin typeface="Calibri"/>
              </a:rPr>
              <a:t>jma_wc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08760" y="1700784"/>
            <a:ext cx="46634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45336" y="1719072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0" y="1700784"/>
            <a:ext cx="74066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48256" y="171907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1700784"/>
            <a:ext cx="6492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25496" y="171907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1700784"/>
            <a:ext cx="6492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11296" y="171907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0.79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1700784"/>
            <a:ext cx="8778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97096" y="171907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0.37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4920" y="1700784"/>
            <a:ext cx="8778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11496" y="171907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1.42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1700784"/>
            <a:ext cx="832103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25896" y="1719072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0.07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2048256"/>
            <a:ext cx="124358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5176" y="206654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04040"/>
                </a:solidFill>
                <a:latin typeface="Calibri"/>
              </a:rPr>
              <a:t>jma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2048256"/>
            <a:ext cx="46634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45336" y="2066544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0" y="2048256"/>
            <a:ext cx="74066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48256" y="2066544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88920" y="2048256"/>
            <a:ext cx="6492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25496" y="2066544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0" y="2048256"/>
            <a:ext cx="6492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11296" y="2066544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0.79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60520" y="2048256"/>
            <a:ext cx="8778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97096" y="206654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0.38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74920" y="2048256"/>
            <a:ext cx="877824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11496" y="206654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1.43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89320" y="2048256"/>
            <a:ext cx="832103" cy="310896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25896" y="2066544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0.07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2395728"/>
            <a:ext cx="12435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176" y="2414016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instance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508760" y="2395728"/>
            <a:ext cx="46634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45336" y="2414016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11680" y="2395728"/>
            <a:ext cx="74066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48256" y="2414016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88920" y="2395728"/>
            <a:ext cx="6492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25496" y="2414016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74720" y="2395728"/>
            <a:ext cx="6492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11296" y="2414016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60520" y="2395728"/>
            <a:ext cx="8778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97096" y="241401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74920" y="2395728"/>
            <a:ext cx="8778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11496" y="241401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1.66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89320" y="2395728"/>
            <a:ext cx="832103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25896" y="2414016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0.09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2743200"/>
            <a:ext cx="124358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5176" y="2761488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scedc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08760" y="2743200"/>
            <a:ext cx="46634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45336" y="2761488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11680" y="2743200"/>
            <a:ext cx="74066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48256" y="276148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88920" y="2743200"/>
            <a:ext cx="6492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25496" y="2761488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0.73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74720" y="2743200"/>
            <a:ext cx="6492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11296" y="2761488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0.77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60520" y="2743200"/>
            <a:ext cx="8778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97096" y="276148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0.51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74920" y="2743200"/>
            <a:ext cx="8778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11496" y="276148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1.46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89320" y="2743200"/>
            <a:ext cx="832103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025896" y="276148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0.10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" y="3090672"/>
            <a:ext cx="12435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65176" y="3108960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neic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508760" y="3090672"/>
            <a:ext cx="46634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545336" y="3108960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11680" y="3090672"/>
            <a:ext cx="74066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48256" y="3108960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0.55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88920" y="3090672"/>
            <a:ext cx="6492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25496" y="3108960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0.34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74720" y="3090672"/>
            <a:ext cx="6492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11296" y="3108960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0.37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60520" y="3090672"/>
            <a:ext cx="8778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97096" y="3108960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0.52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074920" y="3090672"/>
            <a:ext cx="8778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111496" y="3108960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1.49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989320" y="3090672"/>
            <a:ext cx="832103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25896" y="3108960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0.10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28600" y="3438144"/>
            <a:ext cx="124358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5176" y="3456432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ethz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508760" y="3438144"/>
            <a:ext cx="46634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545336" y="3456432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TC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011680" y="3438144"/>
            <a:ext cx="74066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048256" y="345643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88920" y="3438144"/>
            <a:ext cx="6492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825496" y="345643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0.87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474720" y="3438144"/>
            <a:ext cx="6492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511296" y="345643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160520" y="3438144"/>
            <a:ext cx="8778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197096" y="345643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0.56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074920" y="3438144"/>
            <a:ext cx="8778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111496" y="345643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1.49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989320" y="3438144"/>
            <a:ext cx="832103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025896" y="3456432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0.12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28600" y="3785616"/>
            <a:ext cx="12435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65176" y="380390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iquique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508760" y="3785616"/>
            <a:ext cx="46634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545336" y="3803904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TC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011680" y="3785616"/>
            <a:ext cx="74066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048256" y="3803904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0.72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88920" y="3785616"/>
            <a:ext cx="6492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825496" y="3803904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474720" y="3785616"/>
            <a:ext cx="6492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511296" y="3803904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0.66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160520" y="3785616"/>
            <a:ext cx="8778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197096" y="380390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0.66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74920" y="3785616"/>
            <a:ext cx="8778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111496" y="380390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1.53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989320" y="3785616"/>
            <a:ext cx="832103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025896" y="3803904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0.14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28600" y="4133087"/>
            <a:ext cx="124358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65176" y="4151375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stead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508760" y="4133087"/>
            <a:ext cx="46634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545336" y="4151375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011680" y="4133087"/>
            <a:ext cx="74066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048256" y="4151375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0.56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788920" y="4133087"/>
            <a:ext cx="6492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825496" y="4151375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0.46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474720" y="4133087"/>
            <a:ext cx="6492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511296" y="4151375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0.38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160520" y="4133087"/>
            <a:ext cx="8778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197096" y="4151375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0.66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074920" y="4133087"/>
            <a:ext cx="8778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111496" y="4151375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0.93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989320" y="4133087"/>
            <a:ext cx="832103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025896" y="4151375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0.14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28600" y="4480560"/>
            <a:ext cx="12435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65176" y="4498848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obs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508760" y="4480560"/>
            <a:ext cx="46634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545336" y="4498848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TB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011680" y="4480560"/>
            <a:ext cx="74066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048256" y="4498848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0.61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4480560"/>
            <a:ext cx="6492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825496" y="4498848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0.57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474720" y="4480560"/>
            <a:ext cx="6492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511296" y="4498848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0.53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160520" y="4480560"/>
            <a:ext cx="8778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197096" y="449884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0.89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074920" y="4480560"/>
            <a:ext cx="8778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111496" y="4498848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1.66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989320" y="4480560"/>
            <a:ext cx="832103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025896" y="4498848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0.20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28600" y="4828031"/>
            <a:ext cx="124358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65176" y="4846319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pisdl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508760" y="4828031"/>
            <a:ext cx="46634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545336" y="4846319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TB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011680" y="4828031"/>
            <a:ext cx="74066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048256" y="4846319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0.43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788920" y="4828031"/>
            <a:ext cx="6492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825496" y="4846319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0.25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474720" y="4828031"/>
            <a:ext cx="6492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511296" y="4846319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0.58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160520" y="4828031"/>
            <a:ext cx="8778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197096" y="4846319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0.93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074920" y="4828031"/>
            <a:ext cx="877824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111496" y="4846319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1.62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989320" y="4828031"/>
            <a:ext cx="832103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025896" y="4846319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0.20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28600" y="5175504"/>
            <a:ext cx="124358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65176" y="5193792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geofon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508760" y="5175504"/>
            <a:ext cx="46634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545336" y="5193792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011680" y="5175504"/>
            <a:ext cx="74066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048256" y="5193792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0.65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2788920" y="5175504"/>
            <a:ext cx="64922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2825496" y="519379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0.49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474720" y="5175504"/>
            <a:ext cx="64922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511296" y="519379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0.78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160520" y="5175504"/>
            <a:ext cx="87782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197096" y="519379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1.05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5074920" y="5175504"/>
            <a:ext cx="87782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111496" y="5193792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1.71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989320" y="5175504"/>
            <a:ext cx="832103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025896" y="5193792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0.23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28600" y="5522976"/>
            <a:ext cx="124358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65176" y="554126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lendb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508760" y="5522976"/>
            <a:ext cx="46634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545336" y="5541264"/>
            <a:ext cx="429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TC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011680" y="5522976"/>
            <a:ext cx="74066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048256" y="5541264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0.32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788920" y="5522976"/>
            <a:ext cx="64922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825496" y="5541264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0.00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3474720" y="5522976"/>
            <a:ext cx="64922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511296" y="5541264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0.78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160520" y="5522976"/>
            <a:ext cx="87782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197096" y="554126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2.63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074920" y="5522976"/>
            <a:ext cx="877824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111496" y="554126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2.62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5989320" y="5522976"/>
            <a:ext cx="832103" cy="310896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025896" y="5541264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0.66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28600" y="5916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04040"/>
                </a:solidFill>
                <a:latin typeface="Calibri"/>
              </a:rPr>
              <a:t>Green = top 3 by P-MAE  ·  Red = bottom 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The Teleseismic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geofon is the only model that works at teleseismic distances</a:t>
            </a:r>
          </a:p>
        </p:txBody>
      </p:sp>
      <p:pic>
        <p:nvPicPr>
          <p:cNvPr id="5" name="Picture 4" descr="slide_t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11439569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Identification  ·  MCC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At P position: is P_prob &gt; S_prob?  At S position: is S_prob &gt; P_prob?</a:t>
            </a:r>
          </a:p>
        </p:txBody>
      </p:sp>
      <p:pic>
        <p:nvPicPr>
          <p:cNvPr id="5" name="Picture 4" descr="slide_m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1194298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Residual Distribution by Distance Bin  ·  Box-and-Whisker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Box = IQR  ·  solid = median  ·  dashed = mean  ·  whiskers = 10th–90th %ile</a:t>
            </a:r>
          </a:p>
        </p:txBody>
      </p:sp>
      <p:pic>
        <p:nvPicPr>
          <p:cNvPr id="5" name="Picture 4" descr="step3_boxwhis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14701192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Comparison with Münchmeyer et al. (2022)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75B6"/>
                </a:solidFill>
                <a:latin typeface="Calibri"/>
              </a:rPr>
              <a:t>Which Picker Fits My Data? — JGR Solid Earth, 2022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5394960" cy="5212080"/>
          </a:xfrm>
          <a:prstGeom prst="rect">
            <a:avLst/>
          </a:prstGeom>
          <a:solidFill>
            <a:srgbClr val="E8F4E8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960120"/>
            <a:ext cx="5943600" cy="5212080"/>
          </a:xfrm>
          <a:prstGeom prst="rect">
            <a:avLst/>
          </a:prstGeom>
          <a:solidFill>
            <a:srgbClr val="E8F0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  <a:latin typeface="Calibri"/>
              </a:rPr>
              <a:t>Confirmed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058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New findings &amp;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✔  Teleseismic gap is real — teleseismic-trained model (geofon) is essential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1284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✔  S picks are consistently 3–4× harder than P picks across all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62656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✔  Cross-domain degradation is severe — no model generalises perfectly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712464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✔  Outlier fraction increases sharply with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6227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✔  High detection recall ≠ accurate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46304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★  Japan-trained jma/jma_wc not in paper — best cross-domain P pickers (0.37–0.38 s MAE)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084832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★  stead (reference PhaseNet) has negative MCC (−0.29) cross-domain — worse than random phase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706624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★  geofon reverses the distance trend: best at teleseismic, average elsewhere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328416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★  scedc achieves highest MCC (0.87) despite moderate MAE (0.54 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950208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★  New 11-dataset benchmark spanning all three distance regimes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57200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★  Some models produce flat probability outputs via direct forward() — need annotate()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577840" cy="2560320"/>
          </a:xfrm>
          <a:prstGeom prst="rect">
            <a:avLst/>
          </a:prstGeom>
          <a:solidFill>
            <a:srgbClr val="F8F8F8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09728" cy="2560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525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#1  Japan-trained models generalise best
jma / jma_wc: P-MAE 0.37–0.38 s, recall 87–88 %, MCC 0.79
2× better than stead and instance cross-domain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657600"/>
            <a:ext cx="5577840" cy="2560320"/>
          </a:xfrm>
          <a:prstGeom prst="rect">
            <a:avLst/>
          </a:prstGeom>
          <a:solidFill>
            <a:srgbClr val="F8F8F8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657600"/>
            <a:ext cx="109728" cy="25603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794760"/>
            <a:ext cx="525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#2  The teleseismic gap is sharp and nearly universal
geofon: 1.0 s MAE, 67 % recall — all other models: ≥ 1.8 s, &lt; 31 % recall
Local/regional training data provides no signal for teleseismic picking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914400"/>
            <a:ext cx="5577840" cy="2560320"/>
          </a:xfrm>
          <a:prstGeom prst="rect">
            <a:avLst/>
          </a:prstGeom>
          <a:solidFill>
            <a:srgbClr val="F8F8F8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914400"/>
            <a:ext cx="109728" cy="2560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051560"/>
            <a:ext cx="525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#3  S picks are universally harder
S-MAE ≥ 1.4 s for all models (3–4× their own P-MAE)
Consistent with Münchmeyer et al. 2022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657600"/>
            <a:ext cx="5577840" cy="2560320"/>
          </a:xfrm>
          <a:prstGeom prst="rect">
            <a:avLst/>
          </a:prstGeom>
          <a:solidFill>
            <a:srgbClr val="F8F8F8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657600"/>
            <a:ext cx="109728" cy="2560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794760"/>
            <a:ext cx="525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#4  No single model is globally competent
jma/jma_wc best locally/regionally; geofon best teleseismically
A global picker requires training on diverse distance-spanning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394960" cy="1005840"/>
          </a:xfrm>
          <a:prstGeom prst="rect">
            <a:avLst/>
          </a:prstGeom>
          <a:solidFill>
            <a:srgbClr val="FFF0E8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  <a:latin typeface="Calibri"/>
              </a:rPr>
              <a:t>  No noise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830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Detection AUC cannot be computed (benchmark is event-only). Adding noise examples would enable ROC curves matching Münchmeyer et al. exactly.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14600"/>
            <a:ext cx="5394960" cy="1005840"/>
          </a:xfrm>
          <a:prstGeom prst="rect">
            <a:avLst/>
          </a:prstGeom>
          <a:solidFill>
            <a:srgbClr val="FFF0E8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560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  <a:latin typeface="Calibri"/>
              </a:rPr>
              <a:t>  Degenerate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80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diting, phasenet_sn, original output flat probabilities via direct forward(). These need annotate()-based inference with proper normalization.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11880"/>
            <a:ext cx="5394960" cy="1005840"/>
          </a:xfrm>
          <a:prstGeom prst="rect">
            <a:avLst/>
          </a:prstGeom>
          <a:solidFill>
            <a:srgbClr val="FFF0E8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657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  <a:latin typeface="Calibri"/>
              </a:rPr>
              <a:t>  obst2024 excluded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9776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The OBS dataset has no local HDF5. Evaluating obs model on OBS data requires downloading or streaming.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709159"/>
            <a:ext cx="5394960" cy="1005840"/>
          </a:xfrm>
          <a:prstGeom prst="rect">
            <a:avLst/>
          </a:prstGeom>
          <a:solidFill>
            <a:srgbClr val="FFF0E8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7548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  <a:latin typeface="Calibri"/>
              </a:rPr>
              <a:t>  Fixed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0749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  Recall reported at threshold=0.3. Optimal threshold varies per model; paper uses F1-optimised thresholds per model/dataset.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960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Next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417320"/>
            <a:ext cx="5852160" cy="1097280"/>
          </a:xfrm>
          <a:prstGeom prst="rect">
            <a:avLst/>
          </a:prstGeom>
          <a:solidFill>
            <a:srgbClr val="E8F4FF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5544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  1.  Retrain PhaseNet on combined local + teleseismic data (jma + mlaapde + geofon training set)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651760"/>
            <a:ext cx="5852160" cy="1097280"/>
          </a:xfrm>
          <a:prstGeom prst="rect">
            <a:avLst/>
          </a:prstGeom>
          <a:solidFill>
            <a:srgbClr val="E8F4FF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7889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  2.  Add noise windows → compute AUC, optimise detection thresholds per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886200"/>
            <a:ext cx="5852160" cy="1097280"/>
          </a:xfrm>
          <a:prstGeom prst="rect">
            <a:avLst/>
          </a:prstGeom>
          <a:solidFill>
            <a:srgbClr val="E8F4FF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02336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  3.  Evaluate EQTransformer / GPD on same benchmark for direct architecture comparison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5120640"/>
            <a:ext cx="5852160" cy="1097280"/>
          </a:xfrm>
          <a:prstGeom prst="rect">
            <a:avLst/>
          </a:prstGeom>
          <a:solidFill>
            <a:srgbClr val="E8F4FF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525780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  4.  Fine-tune jma_wc on teleseismic data — can we close the gap with a single model?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Calibri"/>
              </a:rPr>
              <a:t>Evaluation follows Münchmeyer et al. (2022) — cross-domain, ±1.5 s outlier threshold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