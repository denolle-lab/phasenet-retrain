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F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Step 3: Inference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DD7EE"/>
                </a:solidFill>
              </a:rPr>
              <a:t>Benchmarking 16 PhaseNet Weights Across Local, Regional &amp; Teleseismic Distances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32,144 event traces  ·  11 datasets  ·  3 distance bins  ·  Framework: Münchmeyer et al. (2022)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Akash Kharita  ·  University of Washington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Three tasks · cross-domain split · distance-stratified · 16 PhaseNet weight 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365760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893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1 —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45920"/>
            <a:ext cx="3657600" cy="3675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00784"/>
            <a:ext cx="338328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Recall at 5 thresholds: 0.1, 0.2, 0.3, 0.5, 0.7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Primary threshold: 0.3 (Münchmeyer et al. 2022)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Median peak probability (threshold-free)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No paired noise → AUC not computable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12344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1234440"/>
            <a:ext cx="3657600" cy="384048"/>
          </a:xfrm>
          <a:prstGeom prst="rect">
            <a:avLst/>
          </a:prstGeom>
          <a:solidFill>
            <a:srgbClr val="26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8" y="12893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2 — Phase ID (MCC)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7368" y="1645920"/>
            <a:ext cx="3657600" cy="3675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700784"/>
            <a:ext cx="338328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At true P pos.: is P_prob &gt; S_prob?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At true S pos.: is S_prob &gt; P_prob?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Matthews Correlation Coefficient (handles imbalance)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Traces with both P &amp; S in window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46136" y="12344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1234440"/>
            <a:ext cx="3657600" cy="384048"/>
          </a:xfrm>
          <a:prstGeom prst="rect">
            <a:avLst/>
          </a:prstGeom>
          <a:solidFill>
            <a:srgbClr val="3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6" y="12893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3 — Onset Timing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46136" y="1645920"/>
            <a:ext cx="3657600" cy="3675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1700784"/>
            <a:ext cx="338328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MAE: mean |predicted − true| in seconds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RMSE: penalises heavy-tail outliers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Outlier fraction: |residual| &gt; 1.5 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Peak found within ±5 s of known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5486400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Cross-domain split: traces from a model's own training dataset are excluded from its evaluation.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806440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Metrics computed per distance bin: local (&lt;150 km), regional (150–1500 km), teleseismic (&gt;1500 km).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Critical Discovery: Normalization Mismatch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Applying the wrong normalization at inference causes up to 30× degradation in P-MAE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61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27632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The original pipeline applied per-component z-score normalization uniformly across all 16 models. However, roughly half the models were trained with global peak normalization, which preserves the amplitude ratios between Z, N, and E components — information these models rely on to distinguish P from S arrivals.
Applying per-component std normalization to peak-trained models destroys that inter-component amplitude information entirely.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20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DB4"/>
                </a:solidFill>
              </a:rPr>
              <a:t>norm = 'peak'  (global max across all components)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2219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stead · instance · ethz · neic · scedc · volpick · geofon · iquique · lendb · pisdl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51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</a:rPr>
              <a:t>norm = 'std'  (per-component demean + unit-std)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5537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jma · jma_wc · obs · diting · phasenet_sn · original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188720"/>
            <a:ext cx="60807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26187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Impact on stead P-MAE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664208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1755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Normalization applied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664208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17556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P-MAE (s)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664208"/>
            <a:ext cx="16916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0112" y="175564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139696"/>
            <a:ext cx="29260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223113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C4C"/>
                </a:solidFill>
              </a:rPr>
              <a:t>Incorrect  (per-component std)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139696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223113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C4C"/>
                </a:solidFill>
              </a:rPr>
              <a:t>1.17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139696"/>
            <a:ext cx="169164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0112" y="2231136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C4C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615184"/>
            <a:ext cx="2926080" cy="47548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27066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AD47"/>
                </a:solidFill>
              </a:rPr>
              <a:t>Correct  (global peak)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2615184"/>
            <a:ext cx="1097280" cy="47548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42832" y="2706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AD47"/>
                </a:solidFill>
              </a:rPr>
              <a:t>0.04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2615184"/>
            <a:ext cx="1691640" cy="47548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0112" y="270662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AD47"/>
                </a:solidFill>
              </a:rPr>
              <a:t>~30× better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090672"/>
            <a:ext cx="2926080" cy="475488"/>
          </a:xfrm>
          <a:prstGeom prst="rect">
            <a:avLst/>
          </a:prstGeom>
          <a:solidFill>
            <a:srgbClr val="DD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6752" y="31821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6DB4"/>
                </a:solidFill>
              </a:rPr>
              <a:t>Published result (Münchmeyer 2022)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3090672"/>
            <a:ext cx="1097280" cy="475488"/>
          </a:xfrm>
          <a:prstGeom prst="rect">
            <a:avLst/>
          </a:prstGeom>
          <a:solidFill>
            <a:srgbClr val="DD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42832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6DB4"/>
                </a:solidFill>
              </a:rPr>
              <a:t>~0.04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3090672"/>
            <a:ext cx="1691640" cy="475488"/>
          </a:xfrm>
          <a:prstGeom prst="rect">
            <a:avLst/>
          </a:prstGeom>
          <a:solidFill>
            <a:srgbClr val="DD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31821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6DB4"/>
                </a:solidFill>
              </a:rPr>
              <a:t>matched 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315968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Three models (diting, phasenet_sn, original) output flat probabilities under incorrect normalization
and were excluded from direct forward-pass evaluation.</a:t>
            </a:r>
          </a:p>
        </p:txBody>
      </p:sp>
      <p:pic>
        <p:nvPicPr>
          <p:cNvPr id="43" name="Picture 42" descr="step3_norm_fi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120640"/>
            <a:ext cx="585216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Normalization Fix: How Rankings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After applying model-specific normalization, volpick rises to match jma/jma_wc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C4C"/>
                </a:solidFill>
              </a:rPr>
              <a:t>Before fix (uniform per-component std):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36192"/>
            <a:ext cx="5760720" cy="1828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91056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jma / jma_wc appeared dominant across all splits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volpick appeared mediocre — masked by wrong norm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stead appeared to generalize reasonably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diting / phasenet_sn / original appeared to detect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56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</a:rPr>
              <a:t>After fix (model-specific normalization):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03904"/>
            <a:ext cx="5760720" cy="201168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58768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Three-way tie at top: volpick / jma / jma_wc  ~0.37–0.38 s cross-domain P-MAE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stead degrades ~7× from in-domain to cross-domain (0.048 → 0.392 s local)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Normalization type explains generalization differences, not just model architecture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diting / phasenet_sn / original confirmed degenerate — excluded from comparisons</a:t>
            </a:r>
          </a:p>
        </p:txBody>
      </p:sp>
      <p:pic>
        <p:nvPicPr>
          <p:cNvPr id="15" name="Picture 14" descr="step3_norm_fi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6692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P-Pick Residuals  ·  Cross-Domain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Blue bars · corner: OUT / MAE / RMSE · red dashed = median · orange dashed =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pic>
        <p:nvPicPr>
          <p:cNvPr id="9" name="Picture 8" descr="step3_p_residual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15568"/>
            <a:ext cx="117957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S-Pick Residuals  ·  Cross-Domain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Orange bars · wider x-range than P · S picks are 3–4× harder than P across all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pic>
        <p:nvPicPr>
          <p:cNvPr id="9" name="Picture 8" descr="step3_s_residual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15568"/>
            <a:ext cx="117957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Residual Distribution by Distance Bin  ·  Box-and-Whisker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Box = IQR · solid = median · dashed = mean · whiskers = 10th–90th %ile · cross-domain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pic>
        <p:nvPicPr>
          <p:cNvPr id="9" name="Picture 8" descr="step3_boxwhis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116128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Cross-Domain Performance Summary  (all distances)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Sorted by P-MAE · outlier threshold ±1.5 s · degenerate models excluded · green = top 3 · red = bottom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188720"/>
            <a:ext cx="137160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2527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188720"/>
            <a:ext cx="64008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2527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188720"/>
            <a:ext cx="91440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2527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188720"/>
            <a:ext cx="82296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252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188720"/>
            <a:ext cx="82296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40" y="1252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MCC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188720"/>
            <a:ext cx="109728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2527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P-MAE (s)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188720"/>
            <a:ext cx="109728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2527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S-MAE (s)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188720"/>
            <a:ext cx="100584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2527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P-outlier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536192"/>
            <a:ext cx="137160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16002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0AD47"/>
                </a:solidFill>
              </a:rPr>
              <a:t>volpick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1536192"/>
            <a:ext cx="6400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16002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1536192"/>
            <a:ext cx="91440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16002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1536192"/>
            <a:ext cx="82296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16002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1536192"/>
            <a:ext cx="82296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40" y="16002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536192"/>
            <a:ext cx="10972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16002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0.37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1536192"/>
            <a:ext cx="10972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16002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1.48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1536192"/>
            <a:ext cx="100584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16002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1883664"/>
            <a:ext cx="137160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19476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0AD47"/>
                </a:solidFill>
              </a:rPr>
              <a:t>jma_wc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1883664"/>
            <a:ext cx="6400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19476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1883664"/>
            <a:ext cx="91440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0280" y="1947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1883664"/>
            <a:ext cx="82296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80" y="19476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1883664"/>
            <a:ext cx="82296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7640" y="19476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1883664"/>
            <a:ext cx="10972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0600" y="19476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0.37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1883664"/>
            <a:ext cx="10972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7880" y="19476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1.42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9440" y="1883664"/>
            <a:ext cx="100584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5160" y="19476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2231136"/>
            <a:ext cx="137160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22951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0AD47"/>
                </a:solidFill>
              </a:rPr>
              <a:t>jma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54480" y="2231136"/>
            <a:ext cx="6400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0200" y="22951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94560" y="2231136"/>
            <a:ext cx="91440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0280" y="22951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60" y="2231136"/>
            <a:ext cx="82296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54680" y="22951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31920" y="2231136"/>
            <a:ext cx="82296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7640" y="22951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80" y="2231136"/>
            <a:ext cx="10972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00600" y="2295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0.38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52160" y="2231136"/>
            <a:ext cx="109728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97880" y="2295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1.43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0" y="2231136"/>
            <a:ext cx="1005840" cy="34747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5160" y="22951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" y="2578608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600" y="2642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instance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54480" y="2578608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00200" y="26426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94560" y="2578608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40280" y="26426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2578608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54680" y="2642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31920" y="2578608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77640" y="2642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80" y="2578608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00600" y="2642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0.45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52160" y="2578608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97880" y="2642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1.66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49440" y="2578608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95160" y="2642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2926080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8600" y="29900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scedc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54480" y="2926080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00200" y="2990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94560" y="292608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40280" y="29900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108960" y="2926080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54680" y="29900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31920" y="2926080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77640" y="29900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54880" y="2926080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800600" y="29900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52160" y="2926080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97880" y="29900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1.46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49440" y="2926080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95160" y="2990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0.10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2880" y="3273552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860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neic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54480" y="3273552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600200" y="33375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94560" y="327355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240280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108960" y="3273552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154680" y="33375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0.34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931920" y="3273552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977640" y="33375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0.37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54880" y="327355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800600" y="3337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852160" y="327355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97880" y="3337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1.49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49440" y="3273552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95160" y="33375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0.10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2880" y="3621024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28600" y="36850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ethz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54480" y="3621024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600200" y="368503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94560" y="3621024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240280" y="36850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108960" y="3621024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154680" y="368503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931920" y="3621024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977640" y="368503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754880" y="362102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800600" y="36850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52160" y="362102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97880" y="36850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1.49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949440" y="3621024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95160" y="3685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2880" y="3968496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8600" y="40325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iquique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54480" y="3968496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600200" y="40325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94560" y="396849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240280" y="40325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08960" y="396849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0325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931920" y="396849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977640" y="40325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0.66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754880" y="3968496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800600" y="4032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0.66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852160" y="3968496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897880" y="4032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1.53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949440" y="3968496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995160" y="40325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0.14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2880" y="4315968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28600" y="4379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stead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554480" y="4315968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600200" y="43799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A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194560" y="4315968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240280" y="43799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0.56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108960" y="4315968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154680" y="43799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931920" y="4315968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977640" y="43799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0.38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754880" y="4315968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800600" y="4379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0.66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852160" y="4315968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897880" y="4379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0.93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949440" y="4315968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95160" y="4379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0.14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82880" y="4663440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28600" y="4727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obs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54480" y="4663440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00200" y="47274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194560" y="466344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240280" y="4727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0.61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08960" y="4663440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154680" y="47274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931920" y="4663440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977640" y="47274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0.53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754880" y="4663440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800600" y="47274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0.89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852160" y="4663440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897880" y="47274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1.66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49440" y="4663440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95160" y="4727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0.20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82880" y="5010912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28600" y="50749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pisdl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554480" y="5010912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600200" y="50749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94560" y="501091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240280" y="50749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0.43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108960" y="5010912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154680" y="50749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0.25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931920" y="5010912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977640" y="50749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0.58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754880" y="501091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800600" y="50749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0.93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01091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897880" y="50749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1.62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949440" y="5010912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995160" y="5074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0.20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82880" y="5358384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28600" y="5422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geofon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554480" y="5358384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600200" y="5422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D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194560" y="5358384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240280" y="5422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0.65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108960" y="5358384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154680" y="5422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0.49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931920" y="5358384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977640" y="5422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0.78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754880" y="535838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800600" y="5422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1.05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852160" y="535838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897880" y="5422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1.71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949440" y="5358384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95160" y="5422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0.23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82880" y="5705856"/>
            <a:ext cx="137160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28600" y="57698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C4C"/>
                </a:solidFill>
              </a:rPr>
              <a:t>lendb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554480" y="5705856"/>
            <a:ext cx="64008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600200" y="5769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2194560" y="5705856"/>
            <a:ext cx="91440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240280" y="57698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0.32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3108960" y="5705856"/>
            <a:ext cx="82296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154680" y="57698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3931920" y="5705856"/>
            <a:ext cx="82296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977640" y="57698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0.78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754880" y="5705856"/>
            <a:ext cx="109728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800600" y="57698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2.63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852160" y="5705856"/>
            <a:ext cx="109728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897880" y="57698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2.62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949440" y="5705856"/>
            <a:ext cx="1005840" cy="347472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95160" y="5769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0.66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82880" y="5989320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Green = top 3 by P-MAE  ·  Red = bottom performer  ·  geofon excels only at teleseismic distances (see next slide)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Cross-Domain Metric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Bars = cross-domain · diamonds = in-domain · sorted by P-MAE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pic>
        <p:nvPicPr>
          <p:cNvPr id="9" name="Picture 8" descr="step3_fig_A_p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3977639" cy="2377440"/>
          </a:xfrm>
          <a:prstGeom prst="rect">
            <a:avLst/>
          </a:prstGeom>
        </p:spPr>
      </p:pic>
      <p:pic>
        <p:nvPicPr>
          <p:cNvPr id="10" name="Picture 9" descr="step3_fig_B_p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1" y="1188720"/>
            <a:ext cx="3977639" cy="2377440"/>
          </a:xfrm>
          <a:prstGeom prst="rect">
            <a:avLst/>
          </a:prstGeom>
        </p:spPr>
      </p:pic>
      <p:pic>
        <p:nvPicPr>
          <p:cNvPr id="11" name="Picture 10" descr="step3_fig_C_outl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2" y="1188720"/>
            <a:ext cx="3977639" cy="2377440"/>
          </a:xfrm>
          <a:prstGeom prst="rect">
            <a:avLst/>
          </a:prstGeom>
        </p:spPr>
      </p:pic>
      <p:pic>
        <p:nvPicPr>
          <p:cNvPr id="12" name="Picture 11" descr="step3_fig_D_m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703320"/>
            <a:ext cx="3977639" cy="2377440"/>
          </a:xfrm>
          <a:prstGeom prst="rect">
            <a:avLst/>
          </a:prstGeom>
        </p:spPr>
      </p:pic>
      <p:pic>
        <p:nvPicPr>
          <p:cNvPr id="13" name="Picture 12" descr="step3_fig_E_rec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1" y="3703320"/>
            <a:ext cx="3977639" cy="2377440"/>
          </a:xfrm>
          <a:prstGeom prst="rect">
            <a:avLst/>
          </a:prstGeom>
        </p:spPr>
      </p:pic>
      <p:pic>
        <p:nvPicPr>
          <p:cNvPr id="14" name="Picture 13" descr="step3_fig_F_medpro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2" y="3703320"/>
            <a:ext cx="3977639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Teleseismic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geofon is the only model that works at teleseismic distances  ·  all others recall &lt; 28%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1463040" cy="3383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43584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1188720"/>
            <a:ext cx="1097280" cy="3383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243584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188720"/>
            <a:ext cx="1280160" cy="3383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24358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P-med prob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188720"/>
            <a:ext cx="1280160" cy="3383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24358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P-MAE (s)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188720"/>
            <a:ext cx="1188720" cy="3383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24358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P-outlier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527048"/>
            <a:ext cx="1463040" cy="33832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57276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0AD47"/>
                </a:solidFill>
              </a:rPr>
              <a:t>geofon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1527048"/>
            <a:ext cx="1097280" cy="33832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1572768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0.7749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1527048"/>
            <a:ext cx="1280160" cy="33832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157276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0.5521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1527048"/>
            <a:ext cx="1280160" cy="33832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157276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0.917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1527048"/>
            <a:ext cx="1188720" cy="338328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1572768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18.8%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1865376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1911096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jma_wc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1865376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1911096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0.2382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1865376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191109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0.0826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1865376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191109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1.803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9240" y="1865376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191109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45.7%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2203704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249424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jma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2203704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37360" y="2249424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0.2403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2203704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0" y="224942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2203704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224942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1.841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49240" y="2203704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224942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46.6%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2542032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258775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volpick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91640" y="2542032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37360" y="2587752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0.2770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88920" y="2542032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0" y="258775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0.0294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2542032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0" y="258775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1.844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2542032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4960" y="258775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45.0%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2880360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2926080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instance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91640" y="2880360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2926080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0.1309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2880360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34640" y="292608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69080" y="2880360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0" y="292608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2.050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2880360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0" y="292608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49.7%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3218688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326440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scedc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91640" y="3218688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37360" y="3264408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0.0935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88920" y="3218688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34640" y="326440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0.0061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69080" y="3218688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0" y="326440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2.223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49240" y="3218688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0" y="3264408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56.0%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3557016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3602736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ethz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91640" y="3557016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737360" y="3602736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0.0651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88920" y="3557016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34640" y="360273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0.0007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69080" y="3557016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0" y="360273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2.339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49240" y="3557016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0" y="360273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59.6%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3895344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3941064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pisdl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91640" y="3895344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37360" y="3941064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0.0346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88920" y="3895344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34640" y="394106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0.0166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69080" y="3895344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0" y="394106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2.447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49240" y="3895344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0" y="394106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63.4%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8600" y="4233672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" y="427939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iquique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91640" y="4233672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737360" y="4279392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0.0312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88920" y="4233672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34640" y="427939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0.0012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69080" y="4233672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14800" y="427939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2.487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49240" y="4233672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94960" y="427939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66.2%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" y="4572000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4617720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stead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91640" y="4572000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37360" y="4617720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0.0145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88920" y="4572000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834640" y="461772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069080" y="4572000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114800" y="461772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2.517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349240" y="4572000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94960" y="461772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64.9%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8600" y="4910328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74320" y="495604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obs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91640" y="4910328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737360" y="4956048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0.0374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88920" y="4910328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34640" y="495604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0.0013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069080" y="4910328"/>
            <a:ext cx="1280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14800" y="495604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2.768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349240" y="4910328"/>
            <a:ext cx="1188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0" y="4956048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70.1%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248656"/>
            <a:ext cx="1463040" cy="33832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4320" y="5294376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C4C"/>
                </a:solidFill>
              </a:rPr>
              <a:t>lendb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91640" y="5248656"/>
            <a:ext cx="1097280" cy="33832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737360" y="5294376"/>
            <a:ext cx="1005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0.0014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88920" y="5248656"/>
            <a:ext cx="1280160" cy="33832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834640" y="529437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0.0000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069080" y="5248656"/>
            <a:ext cx="1280160" cy="33832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114800" y="529437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3.035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349240" y="5248656"/>
            <a:ext cx="1188720" cy="33832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394960" y="529437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78.9%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20" y="118872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6656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Key Observations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75120" y="1600200"/>
            <a:ext cx="5303520" cy="41148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812280" y="1655064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geofon achieves 77% recall and 0.92 s P-MAE at teleseismic distances.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All other models have recall &lt; 28% — essentially non-functional.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Even best non-geofon models (jma/jma_wc) are at ~1.8 s P-MAE.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geofon was trained on global seismic network data including teleseismic events — this is the decisive factor.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Teleseismic phase picking is an unsolved problem for all models except geofon.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• Outlier fraction exceeds 45% for all non-geofon models at teleseismic distances.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In-Domain vs Cross-Domain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Cross-domain degradation quantified by distance bin · stead degrades ~7× locally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pic>
        <p:nvPicPr>
          <p:cNvPr id="9" name="Picture 8" descr="step3_indo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15568"/>
            <a:ext cx="117957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Distance-Stratified Results  ·  Top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P-MAE (s) by distance bin · cross-domain · top 5 models by overall P-MAE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234440"/>
            <a:ext cx="18288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13075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34440"/>
            <a:ext cx="2011680" cy="438912"/>
          </a:xfrm>
          <a:prstGeom prst="rect">
            <a:avLst/>
          </a:prstGeom>
          <a:solidFill>
            <a:srgbClr val="26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307592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Local (&lt;150km)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234440"/>
            <a:ext cx="2377440" cy="4389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130759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Regional (150–1500km)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234440"/>
            <a:ext cx="2286000" cy="4389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13075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Teleseismic (&gt;1500km)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1673352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4752" y="1746504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volpick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673352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1746504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D47"/>
                </a:solidFill>
              </a:rPr>
              <a:t>0.261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1673352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2" y="174650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D47"/>
                </a:solidFill>
              </a:rPr>
              <a:t>0.352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673352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2" y="1746504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1.844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2112264"/>
            <a:ext cx="182880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44752" y="2185416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jma_wc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112264"/>
            <a:ext cx="201168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2185416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D47"/>
                </a:solidFill>
              </a:rPr>
              <a:t>0.227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112264"/>
            <a:ext cx="237744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2185416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D47"/>
                </a:solidFill>
              </a:rPr>
              <a:t>0.395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2112264"/>
            <a:ext cx="228600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2185416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1.803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2551176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4752" y="262432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jma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551176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3552" y="262432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D47"/>
                </a:solidFill>
              </a:rPr>
              <a:t>0.235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2551176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5232" y="262432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D47"/>
                </a:solidFill>
              </a:rPr>
              <a:t>0.398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2551176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2624328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1.840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2990088"/>
            <a:ext cx="182880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44752" y="306324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instance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2990088"/>
            <a:ext cx="201168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73552" y="306324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0.322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2990088"/>
            <a:ext cx="237744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85232" y="30632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0.383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2990088"/>
            <a:ext cx="228600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62672" y="3063240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2.050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342900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44752" y="35021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scedc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3429000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73552" y="3502152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0.354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342900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85232" y="350215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0.504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29000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62672" y="350215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2.223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3867912"/>
            <a:ext cx="182880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4752" y="3941064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geofon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3867912"/>
            <a:ext cx="201168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73552" y="3941064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1.074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2080" y="3867912"/>
            <a:ext cx="237744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85232" y="394106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</a:rPr>
              <a:t>1.042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3867912"/>
            <a:ext cx="2286000" cy="438912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62672" y="3941064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AD47"/>
                </a:solidFill>
              </a:rPr>
              <a:t>0.917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42976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geofon reverses the distance trend: worst locally/regionally, best teleseismically.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46177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jma_wc achieves the best local P-MAE (0.227 s) and remains competitive at regional distances (0.395 s).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0" y="49377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</a:rPr>
              <a:t>No single model is globally competent — jma/jma_wc for local/regional, geofon for teleseismic.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with Münchmeyer et al. (2022)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Which Picker Fits My Data?  ·  JGR Solid Earth, 2022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5760720" cy="384048"/>
          </a:xfrm>
          <a:prstGeom prst="rect">
            <a:avLst/>
          </a:prstGeom>
          <a:solidFill>
            <a:srgbClr val="26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527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Confirmed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00200"/>
            <a:ext cx="5760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55064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✔  In-domain stead local P-MAE reproduced: 0.048 s  (paper: ~0.04 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✔  Teleseismic gap is real — teleseismic-trained model essential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✔  S picks 3–4× harder than P picks across all models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✔  Cross-domain degradation is severe — no model generalises perfectly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✔  Outlier fraction increases sharply with distance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✔  High detection recall does not imply accurate timing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18872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188720"/>
            <a:ext cx="576072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2527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New findings &amp; extensions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600200"/>
            <a:ext cx="5760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655064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★  norm='peak' vs norm='std' is critical — 30× error if wrong (not in paper)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★  jma / jma_wc (not in paper) are best cross-domain P pickers: 0.37–0.38 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★  volpick performance masked by incorrect norm — true P-MAE 0.37 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★  stead degrades ~7× from in-domain to cross-domain (quantified)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★  geofon reverses distance trend: best teleseismic, average elsewhere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★  Degenerate models (diting, phasenet_sn, original) identified and excluded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04040"/>
                </a:solidFill>
              </a:rPr>
              <a:t>★  11-dataset benchmark covering all three distance regimes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Summary of the four main conclusions from Step 3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188720"/>
            <a:ext cx="5806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5806440" cy="384048"/>
          </a:xfrm>
          <a:prstGeom prst="rect">
            <a:avLst/>
          </a:prstGeom>
          <a:solidFill>
            <a:srgbClr val="26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252728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#1  Japan-trained models generalise best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645920"/>
            <a:ext cx="558698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jma and jma_wc achieve 0.37–0.38 s cross-domain P-MAE, topping all models. Their norm='std' normalization forces learning of waveform shape and timing features rather than amplitude ratios, making them more portable across tectonic settings. Volpick matches them after normalization correction.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188720"/>
            <a:ext cx="5806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188720"/>
            <a:ext cx="5806440" cy="38404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252728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#2  Teleseismic gap is sharp and nearly universal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645920"/>
            <a:ext cx="558698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Only geofon works at teleseismic distances (recall 77%, P-MAE 0.92 s). All other models fall below 28% recall and exceed 1.8 s P-MAE. Training on global network data is the decisive factor — no local/regional model transfers.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611880"/>
            <a:ext cx="5806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611880"/>
            <a:ext cx="580644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3675888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#3  Normalization is an architectural property, not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4069080"/>
            <a:ext cx="558698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Using the wrong normalization at inference causes up to 30× degradation in P-MAE. norm='peak' preserves inter-component amplitude ratios; norm='std' trains on shape/timing. Any honest cross-model comparison must account for this explicitly.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11880"/>
            <a:ext cx="5806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11880"/>
            <a:ext cx="5806440" cy="384048"/>
          </a:xfrm>
          <a:prstGeom prst="rect">
            <a:avLst/>
          </a:prstGeom>
          <a:solidFill>
            <a:srgbClr val="3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3675888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#4  No single model is globally competent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4069080"/>
            <a:ext cx="558698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jma/jma_wc lead locally and regionally; geofon leads teleseismically. S picks are 3–4× harder than P for all models. A robust seismic monitoring pipeline requires an ensemble or distance-adaptive selection.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1764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Evaluation follows Münchmeyer et al. (2022)  ·  cross-domain  ·  ±1.5 s outlier 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760720" cy="38404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527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57607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55064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▪  No noise windows — detection AUC cannot be computed. Benchmark is event-only; adding noise would enable proper ROC analysis.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▪  Degenerate models (diting, phasenet_sn, original) require annotate()-based inference, not direct forward(). Results for these models are pending.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▪  obst2024 (OBS dataset) excluded — no local HDF5 available; evaluating obs model on its own training data requires download.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▪  Fixed threshold (0.3) used for recall. Optimal threshold varies per model; paper uses AUC to avoid this bias.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▪  MCC not available at teleseismic distances (too few traces with both P &amp; S in window).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8872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188720"/>
            <a:ext cx="576072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2527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600200"/>
            <a:ext cx="57607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655064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1.  Retrain PhaseNet on combined local + teleseismic data (jma + mlaapde + geofon) — target: one model that works at all distances.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2.  Add noise windows → compute AUC, optimise per-model detection thresholds.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3.  Evaluate EQTransformer / GPD on same benchmark for direct architecture comparison.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4.  Fine-tune jma_wc on teleseismic data — can we close the teleseismic gap with a single fine-tuning run?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5.  Evaluate degenerate models via annotate() pipeline and include in final comparisons.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