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474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474720"/>
            <a:ext cx="12191695" cy="109728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441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PhaseNet Global Fine-Tuning</a:t>
            </a:r>
          </a:p>
          <a:p>
            <a:pPr algn="ctr"/>
            <a:r>
              <a:rPr sz="3600" b="1">
                <a:solidFill>
                  <a:srgbClr val="B8D4F0"/>
                </a:solidFill>
                <a:latin typeface="Calibri"/>
              </a:rPr>
              <a:t>Progress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>
                <a:solidFill>
                  <a:srgbClr val="B8D4F0"/>
                </a:solidFill>
                <a:latin typeface="Calibri"/>
              </a:rPr>
              <a:t>Iterative retraining of jma_wc for cross-domain generalization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109441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404040"/>
                </a:solidFill>
                <a:latin typeface="Calibri"/>
              </a:rPr>
              <a:t>June 12, 2026</a:t>
            </a:r>
          </a:p>
          <a:p>
            <a:pPr algn="ctr"/>
            <a:r>
              <a:rPr sz="1700">
                <a:solidFill>
                  <a:srgbClr val="707070"/>
                </a:solidFill>
                <a:latin typeface="Calibri"/>
              </a:rPr>
              <a:t>Akash Kharita  ·  University of Washington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80160"/>
            <a:ext cx="11185855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>Improve PhaseNet's cross-domain P/S picking accuracy by fine-tuning on a diverse global dataset</a:t>
            </a:r>
          </a:p>
          <a:p>
            <a:pPr lvl="1" marL="411480" indent="-182880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  <a:latin typeface="Calibri"/>
              </a:rPr>
              <a:t>Base model: jma_wc (pretrained PhaseNet, seisbench)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/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>Benchmark dataset: 31,992 held-out traces from global seismic networks</a:t>
            </a:r>
          </a:p>
          <a:p>
            <a:pPr lvl="1" marL="411480" indent="-182880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  <a:latin typeface="Calibri"/>
              </a:rPr>
              <a:t>Spans local, regional and teleseismic distance regimes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/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>Key evaluation metrics:</a:t>
            </a:r>
          </a:p>
          <a:p>
            <a:pPr lvl="1" marL="411480" indent="-182880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  <a:latin typeface="Calibri"/>
              </a:rPr>
              <a:t>P-MAE (s) — mean absolute pick-time error</a:t>
            </a:r>
          </a:p>
          <a:p>
            <a:pPr lvl="1" marL="411480" indent="-182880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  <a:latin typeface="Calibri"/>
              </a:rPr>
              <a:t>P-Recall @ threshold 0.3 — detection completeness</a:t>
            </a:r>
          </a:p>
          <a:p>
            <a:pPr lvl="1" marL="411480" indent="-182880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  <a:latin typeface="Calibri"/>
              </a:rPr>
              <a:t>MCC — Matthews Correlation Coefficient (phase discrimination)</a:t>
            </a:r>
          </a:p>
          <a:p>
            <a:pPr lvl="1" marL="411480" indent="-182880">
              <a:spcBef>
                <a:spcPts val="200"/>
              </a:spcBef>
            </a:pPr>
            <a:r>
              <a:rPr sz="1600" b="0">
                <a:solidFill>
                  <a:srgbClr val="404040"/>
                </a:solidFill>
                <a:latin typeface="Calibri"/>
              </a:rPr>
              <a:t>P-Outlier fraction — picks with |error| &gt; 1 s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/>
            </a:r>
          </a:p>
          <a:p>
            <a:pPr marL="182880" indent="-182880">
              <a:spcBef>
                <a:spcPts val="400"/>
              </a:spcBef>
            </a:pPr>
            <a:r>
              <a:rPr sz="1800" b="1">
                <a:solidFill>
                  <a:srgbClr val="404040"/>
                </a:solidFill>
                <a:latin typeface="Calibri"/>
              </a:rPr>
              <a:t>Motivation: Out-of-the-box PhaseNet generalises poorly to stations / distance ranges outside its training domain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Training Dataset</a:t>
            </a:r>
          </a:p>
        </p:txBody>
      </p:sp>
      <p:sp>
        <p:nvSpPr>
          <p:cNvPr id="4" name="Rectangle 3"/>
          <p:cNvSpPr/>
          <p:nvPr/>
        </p:nvSpPr>
        <p:spPr>
          <a:xfrm>
            <a:off x="673455" y="1216152"/>
            <a:ext cx="256032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73455" y="1216152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527,477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3455" y="167335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B8D4F0"/>
                </a:solidFill>
                <a:latin typeface="Calibri"/>
              </a:rPr>
              <a:t>Training traces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34943" y="1216152"/>
            <a:ext cx="256032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4943" y="1216152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125,218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4943" y="167335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B8D4F0"/>
                </a:solidFill>
                <a:latin typeface="Calibri"/>
              </a:rPr>
              <a:t>Validation traces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6431" y="1216152"/>
            <a:ext cx="256032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6431" y="1216152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275,660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96431" y="167335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B8D4F0"/>
                </a:solidFill>
                <a:latin typeface="Calibri"/>
              </a:rPr>
              <a:t>Test traces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57919" y="1216152"/>
            <a:ext cx="2560320" cy="8686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57919" y="1216152"/>
            <a:ext cx="25603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~67 GB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57919" y="1673352"/>
            <a:ext cx="25603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>
                <a:solidFill>
                  <a:srgbClr val="B8D4F0"/>
                </a:solidFill>
                <a:latin typeface="Calibri"/>
              </a:rPr>
              <a:t>RAM pre-loaded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194560"/>
            <a:ext cx="112772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>
                <a:solidFill>
                  <a:srgbClr val="4070A0"/>
                </a:solidFill>
                <a:latin typeface="Calibri"/>
              </a:rPr>
              <a:t>Networks: JMA · SCEDC · ETHZ · Iquique · GEOFON · PNW · NCEDC · NEIC · and more</a:t>
            </a:r>
          </a:p>
        </p:txBody>
      </p:sp>
      <p:pic>
        <p:nvPicPr>
          <p:cNvPr id="17" name="Picture 16" descr="training_spatial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156" y="2542032"/>
            <a:ext cx="7849382" cy="41788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Approach: Knowledge Distillation + Timing Loss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5394960" cy="5394960"/>
          </a:xfrm>
          <a:prstGeom prst="rect">
            <a:avLst/>
          </a:prstGeom>
          <a:solidFill>
            <a:srgbClr val="F0F5FB"/>
          </a:solidFill>
          <a:ln w="1270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6480" y="1280160"/>
            <a:ext cx="5394960" cy="5394960"/>
          </a:xfrm>
          <a:prstGeom prst="rect">
            <a:avLst/>
          </a:prstGeom>
          <a:solidFill>
            <a:srgbClr val="F5FAF5"/>
          </a:solidFill>
          <a:ln w="12700">
            <a:solidFill>
              <a:srgbClr val="276F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A3A5C"/>
                </a:solidFill>
                <a:latin typeface="Calibri"/>
              </a:rPr>
              <a:t>Knowledge Distillation (KD)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Student model learns from frozen jma_wc teacher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Prevents catastrophic forgetting of pretrained weights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KD loss: α · KL(student ∥ teacher) + cross-entropy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α controls how strongly the teacher constrains the student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1A3A5C"/>
                </a:solidFill>
                <a:latin typeface="Calibri"/>
              </a:rPr>
              <a:t>Hardware &amp; Training Stack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Optimizer: AdamW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Mixed precision: torch.amp (AMP)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Compilation: torch.compile for speed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Batch size: 1024  ·  GPU: RTX 3090 (24 GB)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417320"/>
            <a:ext cx="50292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76F35"/>
                </a:solidFill>
                <a:latin typeface="Calibri"/>
              </a:rPr>
              <a:t>Timing Loss (new in v4+)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Soft-argmax extracts a differentiable pick position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L1 loss between predicted and true arrival time (in samples)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Loss term: β · L1(soft_argmax(pred), true_pos)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β controls timing-loss weight vs cross-entropy + KD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/>
            </a:r>
          </a:p>
          <a:p>
            <a:r>
              <a:rPr sz="1500" b="1">
                <a:solidFill>
                  <a:srgbClr val="276F35"/>
                </a:solidFill>
                <a:latin typeface="Calibri"/>
              </a:rPr>
              <a:t>Hypothesis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KD alone prevents forgetting but doesn't explicitly sharpen timing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Adding a small β (0.01–0.1) should reduce P-MAE without hurting recall</a:t>
            </a:r>
          </a:p>
          <a:p>
            <a:r>
              <a:rPr sz="1400" b="0">
                <a:solidFill>
                  <a:srgbClr val="404040"/>
                </a:solidFill>
                <a:latin typeface="Calibri"/>
              </a:rPr>
              <a:t>v6 tests this at β=0.01 with v3's safe LR=5e-6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280160"/>
            <a:ext cx="539496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126480" y="1280160"/>
            <a:ext cx="5394960" cy="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Training Runs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25880"/>
          <a:ext cx="10362313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5013"/>
                <a:gridCol w="1047874"/>
                <a:gridCol w="815013"/>
                <a:gridCol w="1047874"/>
                <a:gridCol w="1979319"/>
                <a:gridCol w="1630027"/>
                <a:gridCol w="1164305"/>
                <a:gridCol w="1862888"/>
              </a:tblGrid>
              <a:tr h="105156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Version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LR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KD α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Timing β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Scheduler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Early Stop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Epochs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Best val_loss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04040"/>
                          </a:solidFill>
                          <a:latin typeface="Calibri"/>
                        </a:rPr>
                        <a:t>v3</a:t>
                      </a:r>
                    </a:p>
                  </a:txBody>
                  <a:tcPr>
                    <a:solidFill>
                      <a:srgbClr val="F2F2F2"/>
                    </a:solidFill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5×10⁻⁶</a:t>
                      </a:r>
                    </a:p>
                  </a:txBody>
                  <a:tcPr>
                    <a:solidFill>
                      <a:srgbClr val="F2F2F2"/>
                    </a:solidFill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>
                    <a:solidFill>
                      <a:srgbClr val="F2F2F2"/>
                    </a:solidFill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ReduceLROnPlateau</a:t>
                      </a:r>
                    </a:p>
                  </a:txBody>
                  <a:tcPr>
                    <a:solidFill>
                      <a:srgbClr val="F2F2F2"/>
                    </a:solidFill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val_loss</a:t>
                      </a:r>
                    </a:p>
                  </a:txBody>
                  <a:tcPr>
                    <a:solidFill>
                      <a:srgbClr val="F2F2F2"/>
                    </a:solidFill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~96</a:t>
                      </a:r>
                    </a:p>
                  </a:txBody>
                  <a:tcPr>
                    <a:solidFill>
                      <a:srgbClr val="F2F2F2"/>
                    </a:solidFill>
                    <a:solidFill>
                      <a:srgbClr val="D9EAD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0.0655</a:t>
                      </a:r>
                    </a:p>
                  </a:txBody>
                  <a:tcPr>
                    <a:solidFill>
                      <a:srgbClr val="F2F2F2"/>
                    </a:solidFill>
                    <a:solidFill>
                      <a:srgbClr val="D9EAD3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04040"/>
                          </a:solidFill>
                          <a:latin typeface="Calibri"/>
                        </a:rPr>
                        <a:t>v4 ⚠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1×10⁻⁴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Cosine + warmup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val_p_mae_s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23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0.0703 (early stop bug!)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04040"/>
                          </a:solidFill>
                          <a:latin typeface="Calibri"/>
                        </a:rPr>
                        <a:t>v5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1×10⁻⁴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Cosine + warmup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val_loss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123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0.0655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105156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404040"/>
                          </a:solidFill>
                          <a:latin typeface="Calibri"/>
                        </a:rPr>
                        <a:t>v6 ⟳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5×10⁻⁶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0.01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ReduceLROnPlateau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val_loss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300" b="0">
                          <a:solidFill>
                            <a:srgbClr val="404040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>
                    <a:solidFill>
                      <a:srgbClr val="EBF5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510528"/>
            <a:ext cx="1146017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i="1">
                <a:solidFill>
                  <a:srgbClr val="505050"/>
                </a:solidFill>
                <a:latin typeface="Calibri"/>
              </a:rPr>
              <a:t>★ v3 = best cross-domain performance so far    ⚠ v4 bug: ES monitored val_p_mae_s which peaked mid-warmup    ⟳ v6 still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v3 Training — Best Performing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55161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B8D4F0"/>
                </a:solidFill>
                <a:latin typeface="Calibri"/>
              </a:rPr>
              <a:t>LR = 5×10⁻⁶  |  KD α = 0.3  |  ReduceLROnPlateau  |  ~96 epochs</a:t>
            </a:r>
          </a:p>
        </p:txBody>
      </p:sp>
      <p:pic>
        <p:nvPicPr>
          <p:cNvPr id="5" name="Picture 4" descr="trainin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7809" y="1161288"/>
            <a:ext cx="6516076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606060"/>
                </a:solidFill>
                <a:latin typeface="Calibri"/>
              </a:rPr>
              <a:t>Smooth convergence over ~96 epochs at LR = 5×10⁻⁶. Best val P-MAE = 0.37 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v4 &amp; v5 — High-LR Cosine Schedule (Problematic Runs)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55161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B8D4F0"/>
                </a:solidFill>
                <a:latin typeface="Calibri"/>
              </a:rPr>
              <a:t>LR = 1×10⁻⁴  |  KD α = 0.1  |  Timing β = 0.1  |  Cosine + warmup</a:t>
            </a:r>
          </a:p>
        </p:txBody>
      </p:sp>
      <p:pic>
        <p:nvPicPr>
          <p:cNvPr id="5" name="Picture 4" descr="trainin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16152"/>
            <a:ext cx="5638647" cy="4549805"/>
          </a:xfrm>
          <a:prstGeom prst="rect">
            <a:avLst/>
          </a:prstGeom>
        </p:spPr>
      </p:pic>
      <p:pic>
        <p:nvPicPr>
          <p:cNvPr id="6" name="Picture 5" descr="training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727" y="1216152"/>
            <a:ext cx="5638647" cy="45498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960120"/>
            <a:ext cx="563864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3A5C"/>
                </a:solidFill>
                <a:latin typeface="Calibri"/>
              </a:rPr>
              <a:t>v4  (epochs: 23, stopped early due to ES bug)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727" y="960120"/>
            <a:ext cx="5638647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>
                <a:solidFill>
                  <a:srgbClr val="1A3A5C"/>
                </a:solidFill>
                <a:latin typeface="Calibri"/>
              </a:rPr>
              <a:t>v5  (epochs: 123, high-LR drift)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382512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606060"/>
                </a:solidFill>
                <a:latin typeface="Calibri"/>
              </a:rPr>
              <a:t>v4: stopped at epoch 3 (wrong ES monitor — val_p_mae_s peaked mid-warmup).  v5: ran 123 epochs but high LR caused drift from pretrained weights → recall collapses.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v6 Training — Back to v3 LR Regime + Timing Loss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11551615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solidFill>
                  <a:srgbClr val="B8D4F0"/>
                </a:solidFill>
                <a:latin typeface="Calibri"/>
              </a:rPr>
              <a:t>LR = 5×10⁻⁶  |  KD α = 0.3  |  Timing β = 0.01  |  ReduceLROnPlateau</a:t>
            </a:r>
          </a:p>
        </p:txBody>
      </p:sp>
      <p:pic>
        <p:nvPicPr>
          <p:cNvPr id="5" name="Picture 4" descr="training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5936" y="1161288"/>
            <a:ext cx="6519821" cy="5257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606060"/>
                </a:solidFill>
                <a:latin typeface="Calibri"/>
              </a:rPr>
              <a:t>v6: LR = 5×10⁻⁶, KD α = 0.3, timing β = 0.01.  ~60 epochs done — val loss 0.054 and still falling.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Cross-Domain Benchmark — P-MAE Ranking (all distances)</a:t>
            </a:r>
          </a:p>
        </p:txBody>
      </p:sp>
      <p:pic>
        <p:nvPicPr>
          <p:cNvPr id="4" name="Picture 3" descr="step3_f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3416" y="1161288"/>
            <a:ext cx="9204861" cy="52395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446520"/>
            <a:ext cx="1127729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i="1">
                <a:solidFill>
                  <a:srgbClr val="606060"/>
                </a:solidFill>
                <a:latin typeface="Calibri"/>
              </a:rPr>
              <a:t>v3 leads all fine-tuned variants. v4 / v5 regressed due to high learning rate.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P-wave Detection Recall vs Threshold</a:t>
            </a:r>
          </a:p>
        </p:txBody>
      </p:sp>
      <p:pic>
        <p:nvPicPr>
          <p:cNvPr id="4" name="Picture 3" descr="step3_ft_recal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16152"/>
            <a:ext cx="11460175" cy="47536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Timing Error by Distance Bin</a:t>
            </a:r>
          </a:p>
        </p:txBody>
      </p:sp>
      <p:pic>
        <p:nvPicPr>
          <p:cNvPr id="4" name="Picture 3" descr="step3_ft_distance_b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16152"/>
            <a:ext cx="11460175" cy="439089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Pick Residual Distributions</a:t>
            </a:r>
          </a:p>
        </p:txBody>
      </p:sp>
      <p:pic>
        <p:nvPicPr>
          <p:cNvPr id="4" name="Picture 3" descr="step3_ft_residu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282" y="1216152"/>
            <a:ext cx="7153130" cy="54589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5440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spcBef>
                <a:spcPts val="400"/>
              </a:spcBef>
            </a:pPr>
            <a:r>
              <a:rPr sz="1700" b="1">
                <a:solidFill>
                  <a:srgbClr val="276F35"/>
                </a:solidFill>
                <a:latin typeface="Calibri"/>
              </a:rPr>
              <a:t>v3 achieves best cross-domain performance: P-MAE = 0.368 s, P-Recall = 0.872</a:t>
            </a:r>
          </a:p>
          <a:p>
            <a:pPr marL="182880" indent="-182880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LR = 5×10⁻⁶ (v3) vs 1×10⁻⁴ (v4/v5): high LR is the primary driver of regression, not the timing loss</a:t>
            </a:r>
          </a:p>
          <a:p>
            <a:pPr marL="182880" indent="-182880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High LR drifts model far from pretrained jma_wc weights → P-Recall collapses to 0.30–0.41</a:t>
            </a:r>
          </a:p>
          <a:p>
            <a:pPr marL="182880" indent="-182880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/>
            </a:r>
          </a:p>
          <a:p>
            <a:pPr marL="182880" indent="-182880">
              <a:spcBef>
                <a:spcPts val="400"/>
              </a:spcBef>
            </a:pPr>
            <a:r>
              <a:rPr sz="1700" b="0">
                <a:solidFill>
                  <a:srgbClr val="C00000"/>
                </a:solidFill>
                <a:latin typeface="Calibri"/>
              </a:rPr>
              <a:t>v4 bug confirmed: early stopping monitored val_p_mae_s, which peaked at epoch 3 (mid-warmup) → severely undertrained</a:t>
            </a:r>
          </a:p>
          <a:p>
            <a:pPr marL="182880" indent="-182880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v5 fix: switched to val_loss ES → model trained fully (123 ep) but still regressed vs v3 — confirming LR is the culprit</a:t>
            </a:r>
          </a:p>
          <a:p>
            <a:pPr marL="182880" indent="-182880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/>
            </a:r>
          </a:p>
          <a:p>
            <a:pPr marL="182880" indent="-182880">
              <a:spcBef>
                <a:spcPts val="400"/>
              </a:spcBef>
            </a:pPr>
            <a:r>
              <a:rPr sz="1700" b="1">
                <a:solidFill>
                  <a:srgbClr val="404040"/>
                </a:solidFill>
                <a:latin typeface="Calibri"/>
              </a:rPr>
              <a:t>Root cause: 1×10⁻⁴ destabilises KD — teacher signal too weak relative to gradient magnitude</a:t>
            </a:r>
          </a:p>
          <a:p>
            <a:pPr marL="182880" indent="-182880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/>
            </a:r>
          </a:p>
          <a:p>
            <a:pPr marL="182880" indent="-182880">
              <a:spcBef>
                <a:spcPts val="400"/>
              </a:spcBef>
            </a:pPr>
            <a:r>
              <a:rPr sz="1700" b="0">
                <a:solidFill>
                  <a:srgbClr val="276F35"/>
                </a:solidFill>
                <a:latin typeface="Calibri"/>
              </a:rPr>
              <a:t>v6 hypothesis: maintain v3 LR/KD regime (5×10⁻⁶, α=0.3), add small timing β=0.01</a:t>
            </a:r>
          </a:p>
          <a:p>
            <a:pPr lvl="1" marL="411480" indent="-182880">
              <a:spcBef>
                <a:spcPts val="200"/>
              </a:spcBef>
            </a:pPr>
            <a:r>
              <a:rPr sz="1500" b="0">
                <a:solidFill>
                  <a:srgbClr val="404040"/>
                </a:solidFill>
                <a:latin typeface="Calibri"/>
              </a:rPr>
              <a:t>  → Test whether timing loss sharpens picks without sacrificing cross-domain recall</a:t>
            </a:r>
          </a:p>
          <a:p>
            <a:pPr marL="182880" indent="-182880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/>
            </a:r>
          </a:p>
          <a:p>
            <a:pPr marL="182880" indent="-182880">
              <a:spcBef>
                <a:spcPts val="400"/>
              </a:spcBef>
            </a:pPr>
            <a:r>
              <a:rPr sz="1700" b="0">
                <a:solidFill>
                  <a:srgbClr val="404040"/>
                </a:solidFill>
                <a:latin typeface="Calibri"/>
              </a:rPr>
              <a:t>Baseline pretrained jma_wc still competitive (P-MAE 0.374 s, Recall 0.881) — any fine-tuned model must beat this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Benchmark Summary — Cross-Domain, All Distances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307592"/>
          <a:ext cx="11643052" cy="50474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24360"/>
                <a:gridCol w="1804673"/>
                <a:gridCol w="1804673"/>
                <a:gridCol w="1804673"/>
                <a:gridCol w="1804673"/>
              </a:tblGrid>
              <a:tr h="721069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P-MAE (s)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P-Recall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MCC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P-Outlier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721069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Calibri"/>
                        </a:rPr>
                        <a:t>jma_wc  (pretrained baseline)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0.374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  <a:latin typeface="Calibri"/>
                        </a:rPr>
                        <a:t>0.881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0.790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  <a:latin typeface="Calibri"/>
                        </a:rPr>
                        <a:t>0.071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21069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276F35"/>
                          </a:solidFill>
                          <a:latin typeface="Calibri"/>
                        </a:rPr>
                        <a:t>jma_wc_ft_global_v3  ★ BEST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76F35"/>
                          </a:solidFill>
                          <a:latin typeface="Calibri"/>
                        </a:rPr>
                        <a:t>0.368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76F35"/>
                          </a:solidFill>
                          <a:latin typeface="Calibri"/>
                        </a:rPr>
                        <a:t>0.872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76F35"/>
                          </a:solidFill>
                          <a:latin typeface="Calibri"/>
                        </a:rPr>
                        <a:t>0.747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76F35"/>
                          </a:solidFill>
                          <a:latin typeface="Calibri"/>
                        </a:rPr>
                        <a:t>0.071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</a:tr>
              <a:tr h="721069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Calibri"/>
                        </a:rPr>
                        <a:t>instance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0.453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0.841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404040"/>
                          </a:solidFill>
                          <a:latin typeface="Calibri"/>
                        </a:rPr>
                        <a:t>0.851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0.090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21069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04040"/>
                          </a:solidFill>
                          <a:latin typeface="Calibri"/>
                        </a:rPr>
                        <a:t>neic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0.517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0.554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0.372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404040"/>
                          </a:solidFill>
                          <a:latin typeface="Calibri"/>
                        </a:rPr>
                        <a:t>0.104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721069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990000"/>
                          </a:solidFill>
                          <a:latin typeface="Calibri"/>
                        </a:rPr>
                        <a:t>jma_wc_ft_global_v5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90000"/>
                          </a:solidFill>
                          <a:latin typeface="Calibri"/>
                        </a:rPr>
                        <a:t>0.921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90000"/>
                          </a:solidFill>
                          <a:latin typeface="Calibri"/>
                        </a:rPr>
                        <a:t>0.411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90000"/>
                          </a:solidFill>
                          <a:latin typeface="Calibri"/>
                        </a:rPr>
                        <a:t>0.196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90000"/>
                          </a:solidFill>
                          <a:latin typeface="Calibri"/>
                        </a:rPr>
                        <a:t>0.220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  <a:tr h="721069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990000"/>
                          </a:solidFill>
                          <a:latin typeface="Calibri"/>
                        </a:rPr>
                        <a:t>jma_wc_ft_global_v4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90000"/>
                          </a:solidFill>
                          <a:latin typeface="Calibri"/>
                        </a:rPr>
                        <a:t>0.573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90000"/>
                          </a:solidFill>
                          <a:latin typeface="Calibri"/>
                        </a:rPr>
                        <a:t>0.296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90000"/>
                          </a:solidFill>
                          <a:latin typeface="Calibri"/>
                        </a:rPr>
                        <a:t>-0.064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990000"/>
                          </a:solidFill>
                          <a:latin typeface="Calibri"/>
                        </a:rPr>
                        <a:t>0.117</a:t>
                      </a:r>
                    </a:p>
                  </a:txBody>
                  <a:tcPr>
                    <a:solidFill>
                      <a:srgbClr val="FFEBEB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6419088"/>
            <a:ext cx="1146017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i="1">
                <a:solidFill>
                  <a:srgbClr val="505050"/>
                </a:solidFill>
                <a:latin typeface="Calibri"/>
              </a:rPr>
              <a:t>★ Best fine-tuned model  |  Bold values = best in column  |  Green row = v3 (best FT)  |  Red rows = high-LR runs (regressed)  |  Lower P-MAE &amp; P-Outlier is better;  Higher Recall &amp; MCC is better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1551615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52728"/>
            <a:ext cx="11185855" cy="5422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82880" indent="-182880">
              <a:spcBef>
                <a:spcPts val="400"/>
              </a:spcBef>
            </a:pPr>
            <a:r>
              <a:rPr sz="1800" b="1">
                <a:solidFill>
                  <a:srgbClr val="1A3A5C"/>
                </a:solidFill>
                <a:latin typeface="Calibri"/>
              </a:rPr>
              <a:t>Immediate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>Evaluate v6 on the benchmark when training finishes (~2 hours)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/>
            </a:r>
          </a:p>
          <a:p>
            <a:pPr marL="182880" indent="-182880">
              <a:spcBef>
                <a:spcPts val="400"/>
              </a:spcBef>
            </a:pPr>
            <a:r>
              <a:rPr sz="1800" b="1">
                <a:solidFill>
                  <a:srgbClr val="1A3A5C"/>
                </a:solidFill>
                <a:latin typeface="Calibri"/>
              </a:rPr>
              <a:t>Decision tree based on v6 results: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276F35"/>
                </a:solidFill>
                <a:latin typeface="Calibri"/>
              </a:rPr>
              <a:t>If v6 beats v3 → timing loss at β = 0.01 is beneficial → explore β = 0.05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C07000"/>
                </a:solidFill>
                <a:latin typeface="Calibri"/>
              </a:rPr>
              <a:t>If v6 matches v3 → timing loss is neutral → adopt v3 as production model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C00000"/>
                </a:solidFill>
                <a:latin typeface="Calibri"/>
              </a:rPr>
              <a:t>If v6 regresses → timing loss hurts even at β = 0.01 → drop it entirely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/>
            </a:r>
          </a:p>
          <a:p>
            <a:pPr marL="182880" indent="-182880">
              <a:spcBef>
                <a:spcPts val="400"/>
              </a:spcBef>
            </a:pPr>
            <a:r>
              <a:rPr sz="1800" b="1">
                <a:solidFill>
                  <a:srgbClr val="1A3A5C"/>
                </a:solidFill>
                <a:latin typeface="Calibri"/>
              </a:rPr>
              <a:t>Deployment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>Export best model checkpoint to SeisBench format for community sharing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>Benchmark against additional held-out datasets (Ridgecrest, STEAD)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/>
            </a:r>
          </a:p>
          <a:p>
            <a:pPr marL="182880" indent="-182880">
              <a:spcBef>
                <a:spcPts val="400"/>
              </a:spcBef>
            </a:pPr>
            <a:r>
              <a:rPr sz="1800" b="1">
                <a:solidFill>
                  <a:srgbClr val="1A3A5C"/>
                </a:solidFill>
                <a:latin typeface="Calibri"/>
              </a:rPr>
              <a:t>Longer-term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>Consider curriculum training: start with local events, add teleseismic progressively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>Explore S-wave timing loss (currently only P is targeted)</a:t>
            </a:r>
          </a:p>
          <a:p>
            <a:pPr marL="182880" indent="-182880">
              <a:spcBef>
                <a:spcPts val="400"/>
              </a:spcBef>
            </a:pPr>
            <a:r>
              <a:rPr sz="1800" b="0">
                <a:solidFill>
                  <a:srgbClr val="404040"/>
                </a:solidFill>
                <a:latin typeface="Calibri"/>
              </a:rPr>
              <a:t>Investigate ensemble of v3 + v6 for improved robustness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